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972800" cy="16459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3F0"/>
        </a:solidFill>
        <a:effectLst/>
      </p:bgPr>
    </p:bg>
    <p:spTree>
      <p:nvGrpSpPr>
        <p:cNvPr id="1" name=""/>
        <p:cNvGrpSpPr/>
        <p:nvPr/>
      </p:nvGrpSpPr>
      <p:grpSpPr/>
      <p:sp>
        <p:nvSpPr>
          <p:cNvPr id="2" name="TextBox 1"/>
          <p:cNvSpPr txBox="1"/>
          <p:nvPr/>
        </p:nvSpPr>
        <p:spPr>
          <a:xfrm>
            <a:off x="457200" y="457200"/>
            <a:ext cx="10058400" cy="1645920"/>
          </a:xfrm>
          <a:prstGeom prst="rect">
            <a:avLst/>
          </a:prstGeom>
          <a:noFill/>
        </p:spPr>
        <p:txBody>
          <a:bodyPr wrap="square">
            <a:spAutoFit/>
          </a:bodyPr>
          <a:lstStyle/>
          <a:p>
            <a:pPr algn="ctr">
              <a:defRPr sz="2800" b="1">
                <a:solidFill>
                  <a:srgbClr val="8C1515"/>
                </a:solidFill>
                <a:latin typeface="Georgia"/>
              </a:defRPr>
            </a:pPr>
            <a:r>
              <a:t>Digital Twin Co-Optimization of District Energy Networks and Flexible AI Workloads</a:t>
            </a:r>
          </a:p>
          <a:p>
            <a:pPr algn="ctr">
              <a:defRPr sz="1200">
                <a:solidFill>
                  <a:srgbClr val="4D4F53"/>
                </a:solidFill>
                <a:latin typeface="Arial"/>
              </a:defRPr>
            </a:pPr>
            <a:r>
              <a:t>ENERGY 291 · Stanford University · June 9, 2026</a:t>
            </a:r>
            <a:br/>
            <a:r>
              <a:t>Victoria Dinov · Jasmine Blust · Morgan Wyatt</a:t>
            </a:r>
            <a:br/>
            <a:r>
              <a:t>Stanford Central Energy Facility &amp; SRCF Digital Twin</a:t>
            </a:r>
          </a:p>
        </p:txBody>
      </p:sp>
      <p:sp>
        <p:nvSpPr>
          <p:cNvPr id="3" name="Rectangle 2"/>
          <p:cNvSpPr/>
          <p:nvPr/>
        </p:nvSpPr>
        <p:spPr>
          <a:xfrm>
            <a:off x="457200" y="2194560"/>
            <a:ext cx="10058400" cy="3474720"/>
          </a:xfrm>
          <a:prstGeom prst="rect">
            <a:avLst/>
          </a:prstGeom>
          <a:solidFill>
            <a:srgbClr val="FFFFFF"/>
          </a:solidFill>
          <a:ln w="9525">
            <a:solidFill>
              <a:srgbClr val="4D4F53"/>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800"/>
              </a:spcAft>
              <a:defRPr sz="1400" b="1">
                <a:solidFill>
                  <a:srgbClr val="8C1515"/>
                </a:solidFill>
                <a:latin typeface="Arial"/>
              </a:defRPr>
            </a:pPr>
            <a:r>
              <a:t>INTRODUCTION</a:t>
            </a:r>
          </a:p>
          <a:p>
            <a:pPr>
              <a:spcAft>
                <a:spcPts val="600"/>
              </a:spcAft>
              <a:defRPr sz="1100">
                <a:solidFill>
                  <a:srgbClr val="2E2D29"/>
                </a:solidFill>
                <a:latin typeface="Arial"/>
              </a:defRPr>
            </a:pPr>
            <a:r>
              <a:t>The explosive growth of generative AI has introduced unprecedented challenges for grid operators. Historically treated as static, inflexible loads, modern data centers possess an unexploited opportunity to act as dynamic demand-side agents.</a:t>
            </a:r>
          </a:p>
          <a:p>
            <a:pPr>
              <a:spcAft>
                <a:spcPts val="600"/>
              </a:spcAft>
              <a:defRPr sz="1100">
                <a:solidFill>
                  <a:srgbClr val="2E2D29"/>
                </a:solidFill>
                <a:latin typeface="Arial"/>
              </a:defRPr>
            </a:pPr>
            <a:r>
              <a:t>The asynchronous nature of deep learning training provides inherent flexibility to shift delay-tolerant workloads to optimized periods—responding to grid stress, price volatility, and marginal carbon signals.</a:t>
            </a:r>
          </a:p>
          <a:p>
            <a:pPr>
              <a:spcAft>
                <a:spcPts val="600"/>
              </a:spcAft>
              <a:defRPr sz="1100">
                <a:solidFill>
                  <a:srgbClr val="2E2D29"/>
                </a:solidFill>
                <a:latin typeface="Arial"/>
              </a:defRPr>
            </a:pPr>
            <a:r>
              <a:t>By treating AI compute as a Virtual Power Plant (VPP), operators can modulate real-time power consumption, transforming data center demand from an infrastructure liability into a grid-stabilizing asset.</a:t>
            </a:r>
          </a:p>
          <a:p>
            <a:pPr>
              <a:spcAft>
                <a:spcPts val="600"/>
              </a:spcAft>
              <a:defRPr sz="1100">
                <a:solidFill>
                  <a:srgbClr val="2E2D29"/>
                </a:solidFill>
                <a:latin typeface="Arial"/>
              </a:defRPr>
            </a:pPr>
            <a:r>
              <a:t>Stanford’s Central Energy Facility (CEF) provides a unique co-location opportunity—integrating large-scale thermal energy storage (TES) with AI compute scheduling across the Stanford Research Computing Facility (SRCF).</a:t>
            </a:r>
          </a:p>
        </p:txBody>
      </p:sp>
      <p:sp>
        <p:nvSpPr>
          <p:cNvPr id="4" name="Rectangle 3"/>
          <p:cNvSpPr/>
          <p:nvPr/>
        </p:nvSpPr>
        <p:spPr>
          <a:xfrm>
            <a:off x="457200" y="5897880"/>
            <a:ext cx="10058400" cy="2066543"/>
          </a:xfrm>
          <a:prstGeom prst="rect">
            <a:avLst/>
          </a:prstGeom>
          <a:solidFill>
            <a:srgbClr val="FFFFFF"/>
          </a:solidFill>
          <a:ln w="9525">
            <a:solidFill>
              <a:srgbClr val="4D4F53"/>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800"/>
              </a:spcAft>
              <a:defRPr sz="1400" b="1">
                <a:solidFill>
                  <a:srgbClr val="8C1515"/>
                </a:solidFill>
                <a:latin typeface="Arial"/>
              </a:defRPr>
            </a:pPr>
            <a:r>
              <a:t>DATA SOURCES</a:t>
            </a:r>
          </a:p>
          <a:p>
            <a:pPr>
              <a:spcAft>
                <a:spcPts val="600"/>
              </a:spcAft>
              <a:defRPr sz="1100">
                <a:solidFill>
                  <a:srgbClr val="2E2D29"/>
                </a:solidFill>
                <a:latin typeface="Arial"/>
              </a:defRPr>
            </a:pPr>
            <a:r>
              <a:t>Full year of hourly operational data (May 2025–May 2026): electrical load, heating/cooling demand, TES tank states, HRC capacity limits (2,500 tons), COP parameters, and CAISO Day-Ahead Market prices.</a:t>
            </a:r>
          </a:p>
          <a:p>
            <a:pPr>
              <a:spcAft>
                <a:spcPts val="600"/>
              </a:spcAft>
              <a:defRPr sz="1100">
                <a:solidFill>
                  <a:srgbClr val="2E2D29"/>
                </a:solidFill>
                <a:latin typeface="Arial"/>
              </a:defRPr>
            </a:pPr>
            <a:r>
              <a:t>Levelized Long-Run Marginal Emission Rate (LRMER) for California—capturing Duck Curve dynamics of CAISO grid carbon intensity (kgCO₂/MWh).</a:t>
            </a:r>
          </a:p>
          <a:p>
            <a:pPr>
              <a:spcAft>
                <a:spcPts val="600"/>
              </a:spcAft>
              <a:defRPr sz="1100">
                <a:solidFill>
                  <a:srgbClr val="2E2D29"/>
                </a:solidFill>
                <a:latin typeface="Arial"/>
              </a:defRPr>
            </a:pPr>
            <a:r>
              <a:t>8,760-hour compute arrival trace synthesized from sub-hourly GPU/CPU utilization metadata. Raw 36,500 MWh annual payload scaled to Stanford’s 6 MW capacity envelope.</a:t>
            </a:r>
          </a:p>
        </p:txBody>
      </p:sp>
      <p:sp>
        <p:nvSpPr>
          <p:cNvPr id="5" name="Rectangle 4"/>
          <p:cNvSpPr/>
          <p:nvPr/>
        </p:nvSpPr>
        <p:spPr>
          <a:xfrm>
            <a:off x="457200" y="8193023"/>
            <a:ext cx="10058400" cy="2468880"/>
          </a:xfrm>
          <a:prstGeom prst="rect">
            <a:avLst/>
          </a:prstGeom>
          <a:solidFill>
            <a:srgbClr val="FFFFFF"/>
          </a:solidFill>
          <a:ln w="9525">
            <a:solidFill>
              <a:srgbClr val="4D4F53"/>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800"/>
              </a:spcAft>
              <a:defRPr sz="1400" b="1">
                <a:solidFill>
                  <a:srgbClr val="8C1515"/>
                </a:solidFill>
                <a:latin typeface="Arial"/>
              </a:defRPr>
            </a:pPr>
            <a:r>
              <a:t>METHODS: MILP FORMULATION</a:t>
            </a:r>
          </a:p>
          <a:p>
            <a:pPr>
              <a:spcAft>
                <a:spcPts val="400"/>
              </a:spcAft>
              <a:defRPr sz="1050">
                <a:solidFill>
                  <a:srgbClr val="2E2D29"/>
                </a:solidFill>
                <a:latin typeface="Arial"/>
              </a:defRPr>
            </a:pPr>
            <a:r>
              <a:t>• At: Local AI compute executed (MW), max 6.0 MW</a:t>
            </a:r>
          </a:p>
          <a:p>
            <a:pPr>
              <a:spcAft>
                <a:spcPts val="400"/>
              </a:spcAft>
              <a:defRPr sz="1050">
                <a:solidFill>
                  <a:srgbClr val="2E2D29"/>
                </a:solidFill>
                <a:latin typeface="Arial"/>
              </a:defRPr>
            </a:pPr>
            <a:r>
              <a:t>• Qt: Queue backlog (MWh), max 500 MWh (5-day buffer)</a:t>
            </a:r>
          </a:p>
          <a:p>
            <a:pPr>
              <a:spcAft>
                <a:spcPts val="400"/>
              </a:spcAft>
              <a:defRPr sz="1050">
                <a:solidFill>
                  <a:srgbClr val="2E2D29"/>
                </a:solidFill>
                <a:latin typeface="Arial"/>
              </a:defRPr>
            </a:pPr>
            <a:r>
              <a:t>• Ot: Emergency cloud outsource (MWh)</a:t>
            </a:r>
          </a:p>
          <a:p>
            <a:pPr>
              <a:spcAft>
                <a:spcPts val="400"/>
              </a:spcAft>
              <a:defRPr sz="1050">
                <a:solidFill>
                  <a:srgbClr val="2E2D29"/>
                </a:solidFill>
                <a:latin typeface="Arial"/>
              </a:defRPr>
            </a:pPr>
            <a:r>
              <a:t>• Ut ∈ {0,1}: HRC on/off commitment</a:t>
            </a:r>
          </a:p>
          <a:p>
            <a:pPr>
              <a:spcAft>
                <a:spcPts val="400"/>
              </a:spcAft>
              <a:defRPr sz="1050">
                <a:solidFill>
                  <a:srgbClr val="2E2D29"/>
                </a:solidFill>
                <a:latin typeface="Arial"/>
              </a:defRPr>
            </a:pPr>
            <a:r>
              <a:t>• Schwt, Shwt: TES chilled/hot water states</a:t>
            </a:r>
          </a:p>
        </p:txBody>
      </p:sp>
      <p:sp>
        <p:nvSpPr>
          <p:cNvPr id="6" name="Rectangle 5"/>
          <p:cNvSpPr/>
          <p:nvPr/>
        </p:nvSpPr>
        <p:spPr>
          <a:xfrm>
            <a:off x="457200" y="10890503"/>
            <a:ext cx="10058400" cy="1060704"/>
          </a:xfrm>
          <a:prstGeom prst="rect">
            <a:avLst/>
          </a:prstGeom>
          <a:solidFill>
            <a:srgbClr val="FFFFFF"/>
          </a:solidFill>
          <a:ln w="9525">
            <a:solidFill>
              <a:srgbClr val="4D4F53"/>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800"/>
              </a:spcAft>
              <a:defRPr sz="1400" b="1">
                <a:solidFill>
                  <a:srgbClr val="8C1515"/>
                </a:solidFill>
                <a:latin typeface="Arial"/>
              </a:defRPr>
            </a:pPr>
            <a:r>
              <a:t>RESULTS</a:t>
            </a:r>
          </a:p>
          <a:p>
            <a:pPr>
              <a:defRPr sz="1100">
                <a:solidFill>
                  <a:srgbClr val="2E2D29"/>
                </a:solidFill>
                <a:latin typeface="Arial"/>
              </a:defRPr>
            </a:pPr>
            <a:r>
              <a:t>The MPC framework was benchmarked against an uncoordinated baseline—a zero-queue-delay scenario forcing all excess compute to AWS Spot at $1,200/MWh. Results demonstrate profound improvements across cost, carbon, and grid flexibility.</a:t>
            </a:r>
          </a:p>
        </p:txBody>
      </p:sp>
      <p:sp>
        <p:nvSpPr>
          <p:cNvPr id="7" name="Rectangle 6"/>
          <p:cNvSpPr/>
          <p:nvPr/>
        </p:nvSpPr>
        <p:spPr>
          <a:xfrm>
            <a:off x="457200" y="12179807"/>
            <a:ext cx="10058400" cy="1060704"/>
          </a:xfrm>
          <a:prstGeom prst="rect">
            <a:avLst/>
          </a:prstGeom>
          <a:solidFill>
            <a:srgbClr val="FFFFFF"/>
          </a:solidFill>
          <a:ln w="9525">
            <a:solidFill>
              <a:srgbClr val="4D4F53"/>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800"/>
              </a:spcAft>
              <a:defRPr sz="1400" b="1">
                <a:solidFill>
                  <a:srgbClr val="8C1515"/>
                </a:solidFill>
                <a:latin typeface="Arial"/>
              </a:defRPr>
            </a:pPr>
            <a:r>
              <a:t>SENSITIVITY ANALYSIS</a:t>
            </a:r>
          </a:p>
          <a:p>
            <a:pPr>
              <a:defRPr sz="1100">
                <a:solidFill>
                  <a:srgbClr val="2E2D29"/>
                </a:solidFill>
                <a:latin typeface="Arial"/>
              </a:defRPr>
            </a:pPr>
            <a:r>
              <a:t>Robustness evaluated across SLA delay tolerances (0–120 hrs) and AWS cloud spot pricing ($600–$2,400/MWh).</a:t>
            </a:r>
          </a:p>
        </p:txBody>
      </p:sp>
      <p:sp>
        <p:nvSpPr>
          <p:cNvPr id="8" name="Rectangle 7"/>
          <p:cNvSpPr/>
          <p:nvPr/>
        </p:nvSpPr>
        <p:spPr>
          <a:xfrm>
            <a:off x="457200" y="13469111"/>
            <a:ext cx="10058400" cy="1865376"/>
          </a:xfrm>
          <a:prstGeom prst="rect">
            <a:avLst/>
          </a:prstGeom>
          <a:solidFill>
            <a:srgbClr val="FFFFFF"/>
          </a:solidFill>
          <a:ln w="9525">
            <a:solidFill>
              <a:srgbClr val="4D4F53"/>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800"/>
              </a:spcAft>
              <a:defRPr sz="1400" b="1">
                <a:solidFill>
                  <a:srgbClr val="8C1515"/>
                </a:solidFill>
                <a:latin typeface="Arial"/>
              </a:defRPr>
            </a:pPr>
            <a:r>
              <a:t>ANNUAL COST &amp; CARBON SAVINGS</a:t>
            </a:r>
          </a:p>
          <a:p>
            <a:pPr>
              <a:spcAft>
                <a:spcPts val="400"/>
              </a:spcAft>
              <a:defRPr sz="1050">
                <a:solidFill>
                  <a:srgbClr val="2E2D29"/>
                </a:solidFill>
                <a:latin typeface="Arial"/>
              </a:defRPr>
            </a:pPr>
            <a:r>
              <a:t>• Baseline total cost: $15,177,824 — driven largely by $7.2M+ in forced AWS Spot outsourcing</a:t>
            </a:r>
          </a:p>
          <a:p>
            <a:pPr>
              <a:spcAft>
                <a:spcPts val="400"/>
              </a:spcAft>
              <a:defRPr sz="1050">
                <a:solidFill>
                  <a:srgbClr val="2E2D29"/>
                </a:solidFill>
                <a:latin typeface="Arial"/>
              </a:defRPr>
            </a:pPr>
            <a:r>
              <a:t>• MPC total cost: $7,964,237 — cloud outsourcing completely eliminated via 500 MWh virtual queue</a:t>
            </a:r>
          </a:p>
        </p:txBody>
      </p:sp>
      <p:sp>
        <p:nvSpPr>
          <p:cNvPr id="9" name="Rectangle 8"/>
          <p:cNvSpPr/>
          <p:nvPr/>
        </p:nvSpPr>
        <p:spPr>
          <a:xfrm>
            <a:off x="457200" y="15563087"/>
            <a:ext cx="10058400" cy="438913"/>
          </a:xfrm>
          <a:prstGeom prst="rect">
            <a:avLst/>
          </a:prstGeom>
          <a:solidFill>
            <a:srgbClr val="FFFFFF"/>
          </a:solidFill>
          <a:ln w="9525">
            <a:solidFill>
              <a:srgbClr val="4D4F53"/>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800"/>
              </a:spcAft>
              <a:defRPr sz="1400" b="1">
                <a:solidFill>
                  <a:srgbClr val="8C1515"/>
                </a:solidFill>
                <a:latin typeface="Arial"/>
              </a:defRPr>
            </a:pPr>
            <a:r>
              <a:t>PEAK SHAVING &amp; DIURNAL SHIFTING</a:t>
            </a:r>
          </a:p>
          <a:p>
            <a:pPr>
              <a:spcAft>
                <a:spcPts val="600"/>
              </a:spcAft>
              <a:defRPr sz="1100">
                <a:solidFill>
                  <a:srgbClr val="2E2D29"/>
                </a:solidFill>
                <a:latin typeface="Arial"/>
              </a:defRPr>
            </a:pPr>
            <a:r>
              <a:t>The Load Duration Curve (Fig. 1) reveals the MPC’s effect is not classical peak shaving but a rightward compression: consumption is consolidated into deliberate mid-range hours (≈9.5 MW sustained from hours 3,500–6,500).</a:t>
            </a:r>
          </a:p>
          <a:p>
            <a:pPr>
              <a:spcAft>
                <a:spcPts val="600"/>
              </a:spcAft>
              <a:defRPr sz="1100">
                <a:solidFill>
                  <a:srgbClr val="2E2D29"/>
                </a:solidFill>
                <a:latin typeface="Arial"/>
              </a:defRPr>
            </a:pPr>
            <a:r>
              <a:t>The 24-hour average dispatch profile shows the MPC actively suppressing grid draw during the expensive Duck Curve “neck” (hours 16–21) and shifting processing into overnight and solar-dominant midday windows—simultaneously arbitraging cost and carbon.</a:t>
            </a:r>
          </a:p>
        </p:txBody>
      </p:sp>
      <p:sp>
        <p:nvSpPr>
          <p:cNvPr id="10" name="Rectangle 9"/>
          <p:cNvSpPr/>
          <p:nvPr/>
        </p:nvSpPr>
        <p:spPr>
          <a:xfrm>
            <a:off x="457200" y="16230600"/>
            <a:ext cx="10058400" cy="-228600"/>
          </a:xfrm>
          <a:prstGeom prst="rect">
            <a:avLst/>
          </a:prstGeom>
          <a:solidFill>
            <a:srgbClr val="FFFFFF"/>
          </a:solidFill>
          <a:ln w="9525">
            <a:solidFill>
              <a:srgbClr val="4D4F53"/>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800"/>
              </a:spcAft>
              <a:defRPr sz="1400" b="1">
                <a:solidFill>
                  <a:srgbClr val="8C1515"/>
                </a:solidFill>
                <a:latin typeface="Arial"/>
              </a:defRPr>
            </a:pPr>
            <a:r>
              <a:t>DISCUSSION</a:t>
            </a:r>
          </a:p>
          <a:p>
            <a:pPr>
              <a:spcAft>
                <a:spcPts val="400"/>
              </a:spcAft>
              <a:defRPr sz="1050">
                <a:solidFill>
                  <a:srgbClr val="2E2D29"/>
                </a:solidFill>
                <a:latin typeface="Arial"/>
              </a:defRPr>
            </a:pPr>
            <a:r>
              <a:t>• Thermodynamic co-optimization of district thermal storage with AI compute queuing via rolling MPC</a:t>
            </a:r>
          </a:p>
          <a:p>
            <a:pPr>
              <a:spcAft>
                <a:spcPts val="400"/>
              </a:spcAft>
              <a:defRPr sz="1050">
                <a:solidFill>
                  <a:srgbClr val="2E2D29"/>
                </a:solidFill>
                <a:latin typeface="Arial"/>
              </a:defRPr>
            </a:pPr>
            <a:r>
              <a:t>• Quantified financial and carbon value of SLA delay tolerance in research computing</a:t>
            </a:r>
          </a:p>
          <a:p>
            <a:pPr>
              <a:spcAft>
                <a:spcPts val="400"/>
              </a:spcAft>
              <a:defRPr sz="1050">
                <a:solidFill>
                  <a:srgbClr val="2E2D29"/>
                </a:solidFill>
                <a:latin typeface="Arial"/>
              </a:defRPr>
            </a:pPr>
            <a:r>
              <a:t>• Scalable blueprint for large-load grid interconnections co-located with zero-carbon thermal systems</a:t>
            </a:r>
          </a:p>
          <a:p>
            <a:pPr>
              <a:spcAft>
                <a:spcPts val="400"/>
              </a:spcAft>
              <a:defRPr sz="1050">
                <a:solidFill>
                  <a:srgbClr val="2E2D29"/>
                </a:solidFill>
                <a:latin typeface="Arial"/>
              </a:defRPr>
            </a:pPr>
            <a:r>
              <a:t>• Demonstrated multi-objective trade-off: carbon benefit outweighs marginal off-peak cost premium</a:t>
            </a:r>
          </a:p>
        </p:txBody>
      </p:sp>
      <p:sp>
        <p:nvSpPr>
          <p:cNvPr id="11" name="Rectangle 10"/>
          <p:cNvSpPr/>
          <p:nvPr/>
        </p:nvSpPr>
        <p:spPr>
          <a:xfrm>
            <a:off x="457200" y="16230600"/>
            <a:ext cx="10058400" cy="-228600"/>
          </a:xfrm>
          <a:prstGeom prst="rect">
            <a:avLst/>
          </a:prstGeom>
          <a:solidFill>
            <a:srgbClr val="FFFFFF"/>
          </a:solidFill>
          <a:ln w="9525">
            <a:solidFill>
              <a:srgbClr val="4D4F53"/>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800"/>
              </a:spcAft>
              <a:defRPr sz="1400" b="1">
                <a:solidFill>
                  <a:srgbClr val="8C1515"/>
                </a:solidFill>
                <a:latin typeface="Arial"/>
              </a:defRPr>
            </a:pPr>
            <a:r>
              <a:t>FUTURE WORK</a:t>
            </a:r>
          </a:p>
          <a:p>
            <a:pPr>
              <a:spcAft>
                <a:spcPts val="400"/>
              </a:spcAft>
              <a:defRPr sz="1050">
                <a:solidFill>
                  <a:srgbClr val="2E2D29"/>
                </a:solidFill>
                <a:latin typeface="Arial"/>
              </a:defRPr>
            </a:pPr>
            <a:r>
              <a:t>• Stochastic MPC with renewable forecast uncertainty</a:t>
            </a:r>
          </a:p>
          <a:p>
            <a:pPr>
              <a:spcAft>
                <a:spcPts val="400"/>
              </a:spcAft>
              <a:defRPr sz="1050">
                <a:solidFill>
                  <a:srgbClr val="2E2D29"/>
                </a:solidFill>
                <a:latin typeface="Arial"/>
              </a:defRPr>
            </a:pPr>
            <a:r>
              <a:t>• Demand response contracts and grid ancillary service markets</a:t>
            </a:r>
          </a:p>
          <a:p>
            <a:pPr>
              <a:spcAft>
                <a:spcPts val="400"/>
              </a:spcAft>
              <a:defRPr sz="1050">
                <a:solidFill>
                  <a:srgbClr val="2E2D29"/>
                </a:solidFill>
                <a:latin typeface="Arial"/>
              </a:defRPr>
            </a:pPr>
            <a:r>
              <a:t>• Cooperative game theory framework for multi-campus VPP coalitions</a:t>
            </a:r>
          </a:p>
          <a:p>
            <a:pPr>
              <a:spcAft>
                <a:spcPts val="400"/>
              </a:spcAft>
              <a:defRPr sz="1050">
                <a:solidFill>
                  <a:srgbClr val="2E2D29"/>
                </a:solidFill>
                <a:latin typeface="Arial"/>
              </a:defRPr>
            </a:pPr>
            <a:r>
              <a:t>• Real-time implementation with SRCF job scheduler integration</a:t>
            </a:r>
          </a:p>
          <a:p>
            <a:pPr>
              <a:spcAft>
                <a:spcPts val="400"/>
              </a:spcAft>
              <a:defRPr sz="1050">
                <a:solidFill>
                  <a:srgbClr val="2E2D29"/>
                </a:solidFill>
                <a:latin typeface="Arial"/>
              </a:defRPr>
            </a:pPr>
            <a:r>
              <a:t>• CVaR-based risk-averse formulation for carbon price volatility</a:t>
            </a:r>
          </a:p>
        </p:txBody>
      </p:sp>
      <p:sp>
        <p:nvSpPr>
          <p:cNvPr id="12" name="Rectangle 11"/>
          <p:cNvSpPr/>
          <p:nvPr/>
        </p:nvSpPr>
        <p:spPr>
          <a:xfrm>
            <a:off x="457200" y="16230600"/>
            <a:ext cx="10058400" cy="-228600"/>
          </a:xfrm>
          <a:prstGeom prst="rect">
            <a:avLst/>
          </a:prstGeom>
          <a:solidFill>
            <a:srgbClr val="FFFFFF"/>
          </a:solidFill>
          <a:ln w="9525">
            <a:solidFill>
              <a:srgbClr val="4D4F53"/>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800"/>
              </a:spcAft>
              <a:defRPr sz="1400" b="1">
                <a:solidFill>
                  <a:srgbClr val="8C1515"/>
                </a:solidFill>
                <a:latin typeface="Arial"/>
              </a:defRPr>
            </a:pPr>
            <a:r>
              <a:t>REFERENCES</a:t>
            </a:r>
          </a:p>
          <a:p>
            <a:pPr>
              <a:spcAft>
                <a:spcPts val="600"/>
              </a:spcAft>
              <a:defRPr sz="1100">
                <a:solidFill>
                  <a:srgbClr val="2E2D29"/>
                </a:solidFill>
                <a:latin typeface="Arial"/>
              </a:defRPr>
            </a:pPr>
            <a:r>
              <a:t>[1] Stanford SESI, Central Energy Facility, 2026.</a:t>
            </a:r>
          </a:p>
          <a:p>
            <a:pPr>
              <a:spcAft>
                <a:spcPts val="600"/>
              </a:spcAft>
              <a:defRPr sz="1100">
                <a:solidFill>
                  <a:srgbClr val="2E2D29"/>
                </a:solidFill>
                <a:latin typeface="Arial"/>
              </a:defRPr>
            </a:pPr>
            <a:r>
              <a:t>[2] Stanford HAI, AI Index Report, 2025.</a:t>
            </a:r>
          </a:p>
          <a:p>
            <a:pPr>
              <a:spcAft>
                <a:spcPts val="600"/>
              </a:spcAft>
              <a:defRPr sz="1100">
                <a:solidFill>
                  <a:srgbClr val="2E2D29"/>
                </a:solidFill>
                <a:latin typeface="Arial"/>
              </a:defRPr>
            </a:pPr>
            <a:r>
              <a:t>[3] SLAC National Accelerator Laboratory, Computing Infrastructure, 2022.</a:t>
            </a:r>
          </a:p>
          <a:p>
            <a:pPr>
              <a:spcAft>
                <a:spcPts val="600"/>
              </a:spcAft>
              <a:defRPr sz="1100">
                <a:solidFill>
                  <a:srgbClr val="2E2D29"/>
                </a:solidFill>
                <a:latin typeface="Arial"/>
              </a:defRPr>
            </a:pPr>
            <a:r>
              <a:t>[4] NLR, HPC Data Center PUE, 2026.</a:t>
            </a:r>
          </a:p>
          <a:p>
            <a:pPr>
              <a:spcAft>
                <a:spcPts val="600"/>
              </a:spcAft>
              <a:defRPr sz="1100">
                <a:solidFill>
                  <a:srgbClr val="2E2D29"/>
                </a:solidFill>
                <a:latin typeface="Arial"/>
              </a:defRPr>
            </a:pPr>
            <a:r>
              <a:t>[5] Gagnon, Cambium 2024 Data, NREL, doi:10.7799/2560791.</a:t>
            </a:r>
          </a:p>
          <a:p>
            <a:pPr>
              <a:spcAft>
                <a:spcPts val="600"/>
              </a:spcAft>
              <a:defRPr sz="1100">
                <a:solidFill>
                  <a:srgbClr val="2E2D29"/>
                </a:solidFill>
                <a:latin typeface="Arial"/>
              </a:defRPr>
            </a:pPr>
            <a:r>
              <a:t>[6] Alibaba Systems Architecture Lab, Cluster-Trace-GPU-v2020, 2020.</a:t>
            </a:r>
          </a:p>
          <a:p>
            <a:pPr>
              <a:spcAft>
                <a:spcPts val="600"/>
              </a:spcAft>
              <a:defRPr sz="1100">
                <a:solidFill>
                  <a:srgbClr val="2E2D29"/>
                </a:solidFill>
                <a:latin typeface="Arial"/>
              </a:defRPr>
            </a:pPr>
            <a:r>
              <a:t>[7] Amazon Web Services, EC2 Spot Instances Pricing,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